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9" r:id="rId6"/>
    <p:sldId id="261" r:id="rId7"/>
    <p:sldId id="28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83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358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BFD2-176D-631D-C1A0-CA5117A7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6EEC4-7E94-FBD1-A97F-5D5F5B9DF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4E94F-705D-9F11-367F-0EA017FEA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6121F-85C6-0185-AA3D-552123C627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58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8C3D1-89B2-21F5-A403-D40531C4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B9A77-064B-9D0A-1654-38E05CBF2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E31A6-8F0F-DBF1-2916-343813A0B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31D35-6B2A-14E2-9240-688753B57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77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71600"/>
            <a:ext cx="6400800" cy="2560320"/>
          </a:xfrm>
          <a:prstGeom prst="roundRect">
            <a:avLst>
              <a:gd name="adj" fmla="val 5357"/>
            </a:avLst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打不过 Agent 那就加入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第一章：在开发中引入 </a:t>
            </a:r>
            <a:r>
              <a:rPr lang="en-US" sz="160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2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第二章：Skill —— Agent 的「数字器官」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第三章：从 Vibe Coding 到 Harness Engineering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2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第四章：Agent 冲击下我们何去何从？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71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在开发中引入 Agent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516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Agent 时代的 AI Coding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5233" y="954405"/>
            <a:ext cx="3834063" cy="1680812"/>
          </a:xfrm>
          <a:prstGeom prst="roundRect">
            <a:avLst>
              <a:gd name="adj" fmla="val 666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A75E7A8A-0F4A-3EE5-6AE9-DA3F3DCC5CE7}"/>
              </a:ext>
            </a:extLst>
          </p:cNvPr>
          <p:cNvSpPr/>
          <p:nvPr/>
        </p:nvSpPr>
        <p:spPr>
          <a:xfrm>
            <a:off x="4191801" y="954405"/>
            <a:ext cx="4786964" cy="3566160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C83C3E3-AC76-0C34-DD4E-26334149F0AC}"/>
              </a:ext>
            </a:extLst>
          </p:cNvPr>
          <p:cNvSpPr/>
          <p:nvPr/>
        </p:nvSpPr>
        <p:spPr>
          <a:xfrm>
            <a:off x="7502523" y="1465062"/>
            <a:ext cx="1284269" cy="269440"/>
          </a:xfrm>
          <a:prstGeom prst="roundRect">
            <a:avLst>
              <a:gd name="adj" fmla="val 4082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>
                <a:solidFill>
                  <a:schemeClr val="tx1"/>
                </a:solidFill>
              </a:rPr>
              <a:t>帮我生成一段代码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F5C8E45-4975-705C-E43F-EB0CDBDEDC96}"/>
              </a:ext>
            </a:extLst>
          </p:cNvPr>
          <p:cNvSpPr/>
          <p:nvPr/>
        </p:nvSpPr>
        <p:spPr>
          <a:xfrm>
            <a:off x="6489699" y="3317942"/>
            <a:ext cx="2297094" cy="269440"/>
          </a:xfrm>
          <a:prstGeom prst="roundRect">
            <a:avLst>
              <a:gd name="adj" fmla="val 43181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>
                <a:solidFill>
                  <a:schemeClr val="tx1"/>
                </a:solidFill>
              </a:rPr>
              <a:t>这么多，就不能直接写到我的项目里？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4019D0E-6CC2-6D92-A037-096FC15BA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179" y="1827979"/>
            <a:ext cx="357190" cy="36671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4BC1ACE-F386-EFEE-CB70-E1FFF10FA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179" y="3760908"/>
            <a:ext cx="357190" cy="366715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02CCB07-757C-6B75-DFA0-4691BF7F1253}"/>
              </a:ext>
            </a:extLst>
          </p:cNvPr>
          <p:cNvSpPr/>
          <p:nvPr/>
        </p:nvSpPr>
        <p:spPr>
          <a:xfrm>
            <a:off x="8330617" y="4127622"/>
            <a:ext cx="435274" cy="228171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>
                <a:solidFill>
                  <a:schemeClr val="tx1"/>
                </a:solidFill>
              </a:rPr>
              <a:t>···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DCC1CFD-050F-074D-62FD-DAA124A80B0B}"/>
              </a:ext>
            </a:extLst>
          </p:cNvPr>
          <p:cNvSpPr/>
          <p:nvPr/>
        </p:nvSpPr>
        <p:spPr>
          <a:xfrm>
            <a:off x="4632756" y="1827979"/>
            <a:ext cx="3105754" cy="1307837"/>
          </a:xfrm>
          <a:prstGeom prst="roundRect">
            <a:avLst>
              <a:gd name="adj" fmla="val 10355"/>
            </a:avLst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>
                <a:solidFill>
                  <a:schemeClr val="tx1"/>
                </a:solidFill>
              </a:rPr>
              <a:t>@Component</a:t>
            </a:r>
          </a:p>
          <a:p>
            <a:r>
              <a:rPr lang="en-US" altLang="zh-CN" sz="1000">
                <a:solidFill>
                  <a:schemeClr val="tx1"/>
                </a:solidFill>
              </a:rPr>
              <a:t>public class AuthFilter implements GlobalFilter, Ordered {</a:t>
            </a:r>
          </a:p>
          <a:p>
            <a:r>
              <a:rPr lang="en-US" altLang="zh-CN" sz="1000">
                <a:solidFill>
                  <a:schemeClr val="tx1"/>
                </a:solidFill>
              </a:rPr>
              <a:t>    @Autowired</a:t>
            </a:r>
          </a:p>
          <a:p>
            <a:r>
              <a:rPr lang="en-US" altLang="zh-CN" sz="1000">
                <a:solidFill>
                  <a:schemeClr val="tx1"/>
                </a:solidFill>
              </a:rPr>
              <a:t>    private AuthFeignClient authFeignClient;</a:t>
            </a:r>
          </a:p>
          <a:p>
            <a:r>
              <a:rPr lang="en-US" altLang="zh-CN" sz="1000">
                <a:solidFill>
                  <a:schemeClr val="tx1"/>
                </a:solidFill>
              </a:rPr>
              <a:t>    private static final String AUTH_HEADER = “</a:t>
            </a: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······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37468BF-A37C-B707-6A9C-086604202153}"/>
              </a:ext>
            </a:extLst>
          </p:cNvPr>
          <p:cNvSpPr/>
          <p:nvPr/>
        </p:nvSpPr>
        <p:spPr>
          <a:xfrm>
            <a:off x="4632756" y="3836629"/>
            <a:ext cx="1703672" cy="21527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>
                <a:solidFill>
                  <a:schemeClr val="tx1"/>
                </a:solidFill>
              </a:rPr>
              <a:t>不能</a:t>
            </a: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E1CA035D-0C30-340C-0A3C-49F8611CB710}"/>
              </a:ext>
            </a:extLst>
          </p:cNvPr>
          <p:cNvSpPr/>
          <p:nvPr/>
        </p:nvSpPr>
        <p:spPr>
          <a:xfrm>
            <a:off x="5767562" y="1064505"/>
            <a:ext cx="1635442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050" b="1">
                <a:solidFill>
                  <a:srgbClr val="1D1D1F"/>
                </a:solidFill>
                <a:latin typeface="+mn-ea"/>
              </a:rPr>
              <a:t>代码生成</a:t>
            </a:r>
            <a:endParaRPr lang="en-US" sz="1050" b="1" dirty="0">
              <a:latin typeface="+mn-ea"/>
            </a:endParaRPr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DFEF84DC-C518-1A4E-8FC9-6CFC3A9F9245}"/>
              </a:ext>
            </a:extLst>
          </p:cNvPr>
          <p:cNvSpPr/>
          <p:nvPr/>
        </p:nvSpPr>
        <p:spPr>
          <a:xfrm>
            <a:off x="165233" y="2833630"/>
            <a:ext cx="3834063" cy="1680812"/>
          </a:xfrm>
          <a:prstGeom prst="roundRect">
            <a:avLst>
              <a:gd name="adj" fmla="val 666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91A525EF-93EE-028C-F94D-C24B155552C3}"/>
              </a:ext>
            </a:extLst>
          </p:cNvPr>
          <p:cNvSpPr/>
          <p:nvPr/>
        </p:nvSpPr>
        <p:spPr>
          <a:xfrm>
            <a:off x="1264542" y="2920035"/>
            <a:ext cx="1635442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b="1">
                <a:solidFill>
                  <a:srgbClr val="1D1D1F"/>
                </a:solidFill>
                <a:latin typeface="+mn-ea"/>
              </a:rPr>
              <a:t>使用体验</a:t>
            </a:r>
            <a:endParaRPr lang="en-US" sz="1600" b="1" dirty="0">
              <a:latin typeface="+mn-ea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0FFF2842-37AE-3A27-B47B-BB2BEF9153A5}"/>
              </a:ext>
            </a:extLst>
          </p:cNvPr>
          <p:cNvSpPr/>
          <p:nvPr/>
        </p:nvSpPr>
        <p:spPr>
          <a:xfrm>
            <a:off x="313626" y="1557571"/>
            <a:ext cx="3685669" cy="817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1D1D1F"/>
                </a:solidFill>
                <a:latin typeface="+mn-ea"/>
              </a:rPr>
              <a:t>输出需要自行搬运到文本；</a:t>
            </a:r>
            <a:endParaRPr lang="en-US" altLang="zh-CN" sz="1600">
              <a:solidFill>
                <a:srgbClr val="1D1D1F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800">
              <a:solidFill>
                <a:srgbClr val="1D1D1F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ea"/>
              </a:rPr>
              <a:t>由于看不到你的项目全面，只能正确处理较为原子的任务。</a:t>
            </a:r>
            <a:endParaRPr lang="en-US" sz="1600" dirty="0">
              <a:latin typeface="+mn-ea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D015B4DA-26F7-AADB-F994-B095B1178391}"/>
              </a:ext>
            </a:extLst>
          </p:cNvPr>
          <p:cNvSpPr/>
          <p:nvPr/>
        </p:nvSpPr>
        <p:spPr>
          <a:xfrm>
            <a:off x="986975" y="1064505"/>
            <a:ext cx="2190576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b="1">
                <a:solidFill>
                  <a:srgbClr val="1D1D1F"/>
                </a:solidFill>
                <a:latin typeface="+mn-ea"/>
              </a:rPr>
              <a:t>两大缺陷</a:t>
            </a:r>
            <a:endParaRPr lang="en-US" sz="1600" b="1" dirty="0">
              <a:latin typeface="+mn-ea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AE4E88B7-242B-9844-A559-8D4716EABCC6}"/>
              </a:ext>
            </a:extLst>
          </p:cNvPr>
          <p:cNvSpPr/>
          <p:nvPr/>
        </p:nvSpPr>
        <p:spPr>
          <a:xfrm>
            <a:off x="1338739" y="3605266"/>
            <a:ext cx="1635442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800" b="1">
                <a:solidFill>
                  <a:srgbClr val="1D1D1F"/>
                </a:solidFill>
                <a:latin typeface="+mn-ea"/>
              </a:rPr>
              <a:t>非常糟糕！</a:t>
            </a:r>
            <a:endParaRPr lang="en-US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70CF-AB29-6023-303B-45014263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4D6AEE-D569-3F57-7C58-7CC93CCD0BAF}"/>
              </a:ext>
            </a:extLst>
          </p:cNvPr>
          <p:cNvSpPr/>
          <p:nvPr/>
        </p:nvSpPr>
        <p:spPr>
          <a:xfrm>
            <a:off x="457200" y="16949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</a:t>
            </a:r>
            <a:r>
              <a:rPr lang="en-US" altLang="zh-CN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r>
              <a:rPr 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开发</a:t>
            </a:r>
            <a:r>
              <a:rPr lang="zh-CN" alt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</a:t>
            </a:r>
            <a:r>
              <a:rPr lang="en-US" altLang="zh-CN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Brainstorm</a:t>
            </a:r>
            <a:endParaRPr lang="en-US" sz="28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7BDD6416-02C6-3D73-7784-E30591C8D19C}"/>
              </a:ext>
            </a:extLst>
          </p:cNvPr>
          <p:cNvSpPr/>
          <p:nvPr/>
        </p:nvSpPr>
        <p:spPr>
          <a:xfrm>
            <a:off x="111878" y="986647"/>
            <a:ext cx="2244591" cy="2523500"/>
          </a:xfrm>
          <a:prstGeom prst="roundRect">
            <a:avLst>
              <a:gd name="adj" fmla="val 666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1200" b="1"/>
              <a:t>甲方要求</a:t>
            </a:r>
            <a:r>
              <a:rPr lang="en-US" altLang="zh-CN" sz="1200" b="1"/>
              <a:t>.md</a:t>
            </a:r>
          </a:p>
          <a:p>
            <a:endParaRPr lang="en-US" altLang="zh-CN" sz="800"/>
          </a:p>
          <a:p>
            <a:r>
              <a:rPr lang="zh-CN" altLang="en-US" sz="900"/>
              <a:t>有一小额贷款公司，名字叫大富翁金融服务公司。对个人用户和公司用户开展贷款工作。</a:t>
            </a:r>
          </a:p>
          <a:p>
            <a:r>
              <a:rPr lang="zh-CN" altLang="en-US" sz="900"/>
              <a:t>公司有销售部</a:t>
            </a:r>
            <a:r>
              <a:rPr lang="en-US" altLang="zh-CN" sz="900"/>
              <a:t>8</a:t>
            </a:r>
            <a:r>
              <a:rPr lang="zh-CN" altLang="en-US" sz="900"/>
              <a:t>个，今后有可能增加，每个销售部有销售代表若干和部门经理一名。销售代表通过打电话或者其他转介绍的方式开发客户，销售代表需要把自己开发的客户记入软件系统。在记入软件系统时需要查询是否已经存在该客户。销售代表和客户沟通好后签署贷款合同，明确双方的权利义务关系，可以包含一些附件，比如营业执照，身份证等信息。合同签署后客户</a:t>
            </a:r>
            <a:endParaRPr lang="en-US" altLang="zh-CN" sz="900"/>
          </a:p>
          <a:p>
            <a:pPr algn="ctr"/>
            <a:r>
              <a:rPr lang="en-US" altLang="zh-CN" sz="2400"/>
              <a:t>······</a:t>
            </a:r>
            <a:endParaRPr lang="zh-CN" altLang="en-US" sz="240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FD9044AC-F207-6DBD-91DE-7756E722DA5C}"/>
              </a:ext>
            </a:extLst>
          </p:cNvPr>
          <p:cNvSpPr/>
          <p:nvPr/>
        </p:nvSpPr>
        <p:spPr>
          <a:xfrm>
            <a:off x="2356469" y="2894325"/>
            <a:ext cx="849560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>
                <a:latin typeface="+mn-ea"/>
              </a:rPr>
              <a:t>模糊需求</a:t>
            </a:r>
            <a:endParaRPr lang="en-US" sz="1200" b="1" dirty="0">
              <a:latin typeface="+mn-ea"/>
            </a:endParaRPr>
          </a:p>
        </p:txBody>
      </p: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7520CC25-84DD-882D-CB06-E74814632E9C}"/>
              </a:ext>
            </a:extLst>
          </p:cNvPr>
          <p:cNvCxnSpPr>
            <a:cxnSpLocks/>
            <a:stCxn id="25" idx="3"/>
            <a:endCxn id="39" idx="1"/>
          </p:cNvCxnSpPr>
          <p:nvPr/>
        </p:nvCxnSpPr>
        <p:spPr>
          <a:xfrm flipV="1">
            <a:off x="4203638" y="1215889"/>
            <a:ext cx="1347117" cy="1097267"/>
          </a:xfrm>
          <a:prstGeom prst="curvedConnector3">
            <a:avLst>
              <a:gd name="adj1" fmla="val 4245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1">
            <a:extLst>
              <a:ext uri="{FF2B5EF4-FFF2-40B4-BE49-F238E27FC236}">
                <a16:creationId xmlns:a16="http://schemas.microsoft.com/office/drawing/2014/main" id="{4E967CBF-D3C9-39F8-9D29-3C9EB3B4DE7B}"/>
              </a:ext>
            </a:extLst>
          </p:cNvPr>
          <p:cNvSpPr/>
          <p:nvPr/>
        </p:nvSpPr>
        <p:spPr>
          <a:xfrm>
            <a:off x="3196345" y="2063007"/>
            <a:ext cx="1007293" cy="500297"/>
          </a:xfrm>
          <a:prstGeom prst="roundRect">
            <a:avLst>
              <a:gd name="adj" fmla="val 1935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1100" b="1"/>
              <a:t>Agent</a:t>
            </a:r>
          </a:p>
          <a:p>
            <a:r>
              <a:rPr lang="en-US" altLang="zh-CN" sz="1100" b="1"/>
              <a:t>/brainstrom</a:t>
            </a:r>
            <a:endParaRPr lang="zh-CN" altLang="en-US" sz="1100" b="1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CDCC49C2-39BA-A59E-78D0-F26ED2D8058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64432" y="971006"/>
            <a:ext cx="2658319" cy="1899241"/>
          </a:xfrm>
          <a:prstGeom prst="roundRect">
            <a:avLst>
              <a:gd name="adj" fmla="val 7654"/>
            </a:avLst>
          </a:prstGeom>
          <a:ln>
            <a:solidFill>
              <a:schemeClr val="accent3"/>
            </a:solidFill>
          </a:ln>
        </p:spPr>
      </p:pic>
      <p:sp>
        <p:nvSpPr>
          <p:cNvPr id="39" name="Text 2">
            <a:extLst>
              <a:ext uri="{FF2B5EF4-FFF2-40B4-BE49-F238E27FC236}">
                <a16:creationId xmlns:a16="http://schemas.microsoft.com/office/drawing/2014/main" id="{85579335-BAF6-34D1-2857-8036984DBD6F}"/>
              </a:ext>
            </a:extLst>
          </p:cNvPr>
          <p:cNvSpPr/>
          <p:nvPr/>
        </p:nvSpPr>
        <p:spPr>
          <a:xfrm>
            <a:off x="5550755" y="1082929"/>
            <a:ext cx="849560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>
                <a:latin typeface="+mn-ea"/>
              </a:rPr>
              <a:t>业务需求</a:t>
            </a:r>
            <a:endParaRPr lang="en-US" sz="1200" b="1" dirty="0">
              <a:latin typeface="+mn-ea"/>
            </a:endParaRPr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58764BB5-9787-EB88-B6D2-255721ED6392}"/>
              </a:ext>
            </a:extLst>
          </p:cNvPr>
          <p:cNvSpPr/>
          <p:nvPr/>
        </p:nvSpPr>
        <p:spPr>
          <a:xfrm>
            <a:off x="5063842" y="2527307"/>
            <a:ext cx="849560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>
                <a:latin typeface="+mn-ea"/>
              </a:rPr>
              <a:t>开发规范</a:t>
            </a:r>
            <a:endParaRPr lang="en-US" sz="1200" b="1" dirty="0">
              <a:latin typeface="+mn-ea"/>
            </a:endParaRPr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95A7D656-1156-9BB7-1E49-D505A1FA874B}"/>
              </a:ext>
            </a:extLst>
          </p:cNvPr>
          <p:cNvSpPr/>
          <p:nvPr/>
        </p:nvSpPr>
        <p:spPr>
          <a:xfrm>
            <a:off x="4901637" y="3057957"/>
            <a:ext cx="849560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>
                <a:latin typeface="+mn-ea"/>
              </a:rPr>
              <a:t>审查意见</a:t>
            </a:r>
            <a:endParaRPr lang="en-US" sz="1200" b="1" dirty="0">
              <a:latin typeface="+mn-ea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63DE66DF-9728-C0D7-17A2-9B28F3EE31E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06824" y="1414873"/>
            <a:ext cx="2658319" cy="2014603"/>
          </a:xfrm>
          <a:prstGeom prst="roundRect">
            <a:avLst>
              <a:gd name="adj" fmla="val 6618"/>
            </a:avLst>
          </a:prstGeom>
          <a:ln>
            <a:solidFill>
              <a:schemeClr val="accent3"/>
            </a:solidFill>
          </a:ln>
        </p:spPr>
      </p:pic>
      <p:sp>
        <p:nvSpPr>
          <p:cNvPr id="44" name="Text 2">
            <a:extLst>
              <a:ext uri="{FF2B5EF4-FFF2-40B4-BE49-F238E27FC236}">
                <a16:creationId xmlns:a16="http://schemas.microsoft.com/office/drawing/2014/main" id="{D14F4210-67FB-B178-0B13-358CED884B83}"/>
              </a:ext>
            </a:extLst>
          </p:cNvPr>
          <p:cNvSpPr/>
          <p:nvPr/>
        </p:nvSpPr>
        <p:spPr>
          <a:xfrm>
            <a:off x="5395600" y="1562143"/>
            <a:ext cx="849560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>
                <a:latin typeface="+mn-ea"/>
              </a:rPr>
              <a:t>基本环境</a:t>
            </a:r>
            <a:endParaRPr lang="en-US" sz="1200" b="1" dirty="0">
              <a:latin typeface="+mn-ea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EEC508E8-D7A9-85A3-6DE9-CC8937D6320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006873" y="1920626"/>
            <a:ext cx="2588800" cy="1881187"/>
          </a:xfrm>
          <a:prstGeom prst="roundRect">
            <a:avLst>
              <a:gd name="adj" fmla="val 7223"/>
            </a:avLst>
          </a:prstGeom>
          <a:ln>
            <a:solidFill>
              <a:schemeClr val="accent3"/>
            </a:solidFill>
          </a:ln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765FA77B-3872-320C-7243-F2EFFC4A74D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839590" y="2460844"/>
            <a:ext cx="2658319" cy="1672711"/>
          </a:xfrm>
          <a:prstGeom prst="roundRect">
            <a:avLst>
              <a:gd name="adj" fmla="val 7004"/>
            </a:avLst>
          </a:prstGeom>
          <a:ln>
            <a:solidFill>
              <a:schemeClr val="accent3"/>
            </a:solidFill>
          </a:ln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985DD49E-6E70-CC81-5C6A-398F785DFD42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681982" y="3012335"/>
            <a:ext cx="2588799" cy="2014603"/>
          </a:xfrm>
          <a:prstGeom prst="roundRect">
            <a:avLst>
              <a:gd name="adj" fmla="val 5439"/>
            </a:avLst>
          </a:prstGeom>
          <a:ln>
            <a:solidFill>
              <a:schemeClr val="accent3"/>
            </a:solidFill>
          </a:ln>
        </p:spPr>
      </p:pic>
      <p:sp>
        <p:nvSpPr>
          <p:cNvPr id="47" name="Text 2">
            <a:extLst>
              <a:ext uri="{FF2B5EF4-FFF2-40B4-BE49-F238E27FC236}">
                <a16:creationId xmlns:a16="http://schemas.microsoft.com/office/drawing/2014/main" id="{DA35C66A-5E5C-BA41-BB4F-72FF0C0FFB97}"/>
              </a:ext>
            </a:extLst>
          </p:cNvPr>
          <p:cNvSpPr/>
          <p:nvPr/>
        </p:nvSpPr>
        <p:spPr>
          <a:xfrm>
            <a:off x="5209027" y="2026866"/>
            <a:ext cx="849560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>
                <a:latin typeface="+mn-ea"/>
              </a:rPr>
              <a:t>业务分析</a:t>
            </a:r>
            <a:endParaRPr lang="en-US" sz="1200" b="1" dirty="0">
              <a:latin typeface="+mn-ea"/>
            </a:endParaRPr>
          </a:p>
        </p:txBody>
      </p: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5A48C407-4031-6AC3-E228-087997540B5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4203638" y="1695103"/>
            <a:ext cx="1191962" cy="618053"/>
          </a:xfrm>
          <a:prstGeom prst="curvedConnector3">
            <a:avLst>
              <a:gd name="adj1" fmla="val 5426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6EC7A82A-0B34-35AC-AEB9-C91CB983927A}"/>
              </a:ext>
            </a:extLst>
          </p:cNvPr>
          <p:cNvCxnSpPr>
            <a:cxnSpLocks/>
            <a:stCxn id="25" idx="3"/>
            <a:endCxn id="47" idx="1"/>
          </p:cNvCxnSpPr>
          <p:nvPr/>
        </p:nvCxnSpPr>
        <p:spPr>
          <a:xfrm flipV="1">
            <a:off x="4203638" y="2159826"/>
            <a:ext cx="1005389" cy="153330"/>
          </a:xfrm>
          <a:prstGeom prst="curvedConnector3">
            <a:avLst>
              <a:gd name="adj1" fmla="val 575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曲线 59">
            <a:extLst>
              <a:ext uri="{FF2B5EF4-FFF2-40B4-BE49-F238E27FC236}">
                <a16:creationId xmlns:a16="http://schemas.microsoft.com/office/drawing/2014/main" id="{B57CD8EB-87EF-EF8F-4766-3C2B6BAB6218}"/>
              </a:ext>
            </a:extLst>
          </p:cNvPr>
          <p:cNvCxnSpPr>
            <a:cxnSpLocks/>
            <a:stCxn id="25" idx="3"/>
            <a:endCxn id="40" idx="1"/>
          </p:cNvCxnSpPr>
          <p:nvPr/>
        </p:nvCxnSpPr>
        <p:spPr>
          <a:xfrm>
            <a:off x="4203638" y="2313156"/>
            <a:ext cx="860204" cy="347111"/>
          </a:xfrm>
          <a:prstGeom prst="curvedConnector3">
            <a:avLst>
              <a:gd name="adj1" fmla="val 5295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A53E0D2B-3DDB-701C-9649-84B179099AF0}"/>
              </a:ext>
            </a:extLst>
          </p:cNvPr>
          <p:cNvCxnSpPr>
            <a:cxnSpLocks/>
            <a:stCxn id="25" idx="3"/>
            <a:endCxn id="41" idx="1"/>
          </p:cNvCxnSpPr>
          <p:nvPr/>
        </p:nvCxnSpPr>
        <p:spPr>
          <a:xfrm>
            <a:off x="4203638" y="2313156"/>
            <a:ext cx="697999" cy="877761"/>
          </a:xfrm>
          <a:prstGeom prst="curvedConnector3">
            <a:avLst>
              <a:gd name="adj1" fmla="val 4363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240C1EC7-B7D8-85F0-FFE3-B52A55FC3D1D}"/>
              </a:ext>
            </a:extLst>
          </p:cNvPr>
          <p:cNvCxnSpPr>
            <a:cxnSpLocks/>
            <a:stCxn id="18" idx="3"/>
            <a:endCxn id="25" idx="2"/>
          </p:cNvCxnSpPr>
          <p:nvPr/>
        </p:nvCxnSpPr>
        <p:spPr>
          <a:xfrm flipV="1">
            <a:off x="3206029" y="2563304"/>
            <a:ext cx="493963" cy="463981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2">
            <a:extLst>
              <a:ext uri="{FF2B5EF4-FFF2-40B4-BE49-F238E27FC236}">
                <a16:creationId xmlns:a16="http://schemas.microsoft.com/office/drawing/2014/main" id="{F5833981-FCE1-EDF2-24CF-C09C5A412E37}"/>
              </a:ext>
            </a:extLst>
          </p:cNvPr>
          <p:cNvSpPr/>
          <p:nvPr/>
        </p:nvSpPr>
        <p:spPr>
          <a:xfrm>
            <a:off x="344036" y="3643107"/>
            <a:ext cx="4928052" cy="1289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457200">
              <a:lnSpc>
                <a:spcPct val="150000"/>
              </a:lnSpc>
              <a:buNone/>
            </a:pPr>
            <a:r>
              <a:rPr lang="zh-CN" altLang="en-US" sz="1600">
                <a:latin typeface="+mn-ea"/>
              </a:rPr>
              <a:t>通过调用特定的</a:t>
            </a:r>
            <a:r>
              <a:rPr lang="en-US" altLang="zh-CN" sz="1600">
                <a:latin typeface="+mn-ea"/>
              </a:rPr>
              <a:t>skill</a:t>
            </a:r>
            <a:r>
              <a:rPr lang="zh-CN" altLang="en-US" sz="1600">
                <a:latin typeface="+mn-ea"/>
              </a:rPr>
              <a:t>，</a:t>
            </a:r>
            <a:r>
              <a:rPr lang="en-US" altLang="zh-CN" sz="1600">
                <a:latin typeface="+mn-ea"/>
              </a:rPr>
              <a:t>Agent </a:t>
            </a:r>
            <a:r>
              <a:rPr lang="zh-CN" altLang="en-US" sz="1600">
                <a:latin typeface="+mn-ea"/>
              </a:rPr>
              <a:t>能够进行 </a:t>
            </a:r>
            <a:r>
              <a:rPr lang="en-US" altLang="zh-CN" sz="1600">
                <a:latin typeface="+mn-ea"/>
              </a:rPr>
              <a:t>brain storm</a:t>
            </a:r>
            <a:r>
              <a:rPr lang="zh-CN" altLang="en-US" sz="1600">
                <a:latin typeface="+mn-ea"/>
              </a:rPr>
              <a:t>，将一个模糊的需求进行深度拆分，并最终输出一个可供直接开发的标准文档。</a:t>
            </a:r>
            <a:endParaRPr lang="en-US" sz="1600" dirty="0">
              <a:latin typeface="+mn-ea"/>
            </a:endParaRPr>
          </a:p>
        </p:txBody>
      </p:sp>
      <p:sp>
        <p:nvSpPr>
          <p:cNvPr id="73" name="Text 2">
            <a:extLst>
              <a:ext uri="{FF2B5EF4-FFF2-40B4-BE49-F238E27FC236}">
                <a16:creationId xmlns:a16="http://schemas.microsoft.com/office/drawing/2014/main" id="{3F55B014-E263-CCC8-0316-1198B219EC92}"/>
              </a:ext>
            </a:extLst>
          </p:cNvPr>
          <p:cNvSpPr/>
          <p:nvPr/>
        </p:nvSpPr>
        <p:spPr>
          <a:xfrm>
            <a:off x="6857031" y="680083"/>
            <a:ext cx="1597005" cy="26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b="1">
                <a:latin typeface="+mn-ea"/>
              </a:rPr>
              <a:t>实施文档</a:t>
            </a:r>
            <a:r>
              <a:rPr lang="en-US" altLang="zh-CN" sz="1200" b="1">
                <a:latin typeface="+mn-ea"/>
              </a:rPr>
              <a:t>.md</a:t>
            </a:r>
          </a:p>
        </p:txBody>
      </p:sp>
    </p:spTree>
    <p:extLst>
      <p:ext uri="{BB962C8B-B14F-4D97-AF65-F5344CB8AC3E}">
        <p14:creationId xmlns:p14="http://schemas.microsoft.com/office/powerpoint/2010/main" val="2771849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</a:t>
            </a:r>
            <a:r>
              <a:rPr lang="en-US" altLang="zh-CN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r>
              <a:rPr lang="zh-CN" alt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r>
              <a:rPr lang="zh-CN" alt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案例：三步走战略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三步走战略：规划 → 执行 → 审查 → 再规划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自己思考 → 自己执行 → 自己反思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直到符合规范，或风险降低到可控范围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plan 出具体规划，再 execute，最后 qa 查找错误并修复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E349-1D76-1079-D9D2-DDEA006A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40DD54-9435-1693-A4F2-ECCAE22C93D6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</a:t>
            </a:r>
            <a:r>
              <a:rPr lang="en-US" altLang="zh-CN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r>
              <a:rPr lang="zh-CN" alt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r>
              <a:rPr lang="zh-CN" altLang="en-US" sz="2800" b="1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案例：三步走战略</a:t>
            </a:r>
            <a:endParaRPr lang="en-US" sz="28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7D609DEC-0D7B-8F7D-2DD3-E9947DE7E573}"/>
              </a:ext>
            </a:extLst>
          </p:cNvPr>
          <p:cNvSpPr/>
          <p:nvPr/>
        </p:nvSpPr>
        <p:spPr>
          <a:xfrm>
            <a:off x="2076207" y="2571750"/>
            <a:ext cx="1318506" cy="670668"/>
          </a:xfrm>
          <a:prstGeom prst="roundRect">
            <a:avLst>
              <a:gd name="adj" fmla="val 1935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1100" b="1"/>
              <a:t>Agent</a:t>
            </a:r>
          </a:p>
          <a:p>
            <a:pPr algn="ctr"/>
            <a:r>
              <a:rPr lang="en-US" altLang="zh-CN" sz="1100" b="1"/>
              <a:t>/plan-eng-review</a:t>
            </a:r>
          </a:p>
          <a:p>
            <a:pPr algn="ctr"/>
            <a:r>
              <a:rPr lang="zh-CN" altLang="en-US" sz="1100" b="1"/>
              <a:t>规划</a:t>
            </a: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35ECDD5B-78FD-67DD-3C75-0A671CF707A2}"/>
              </a:ext>
            </a:extLst>
          </p:cNvPr>
          <p:cNvSpPr/>
          <p:nvPr/>
        </p:nvSpPr>
        <p:spPr>
          <a:xfrm>
            <a:off x="3690278" y="1114847"/>
            <a:ext cx="1318506" cy="670668"/>
          </a:xfrm>
          <a:prstGeom prst="roundRect">
            <a:avLst>
              <a:gd name="adj" fmla="val 1935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1100" b="1"/>
              <a:t>Agent</a:t>
            </a:r>
          </a:p>
          <a:p>
            <a:pPr algn="ctr"/>
            <a:r>
              <a:rPr lang="en-US" altLang="zh-CN" sz="1100" b="1"/>
              <a:t>/execute-plan</a:t>
            </a:r>
          </a:p>
          <a:p>
            <a:pPr algn="ctr"/>
            <a:r>
              <a:rPr lang="zh-CN" altLang="en-US" sz="1100" b="1"/>
              <a:t>执行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AB9CE0A2-B713-37E9-C809-C1221651480C}"/>
              </a:ext>
            </a:extLst>
          </p:cNvPr>
          <p:cNvSpPr/>
          <p:nvPr/>
        </p:nvSpPr>
        <p:spPr>
          <a:xfrm>
            <a:off x="5304349" y="2538277"/>
            <a:ext cx="1318506" cy="670668"/>
          </a:xfrm>
          <a:prstGeom prst="roundRect">
            <a:avLst>
              <a:gd name="adj" fmla="val 1935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en-US" altLang="zh-CN" sz="1100" b="1"/>
              <a:t>Agent</a:t>
            </a:r>
          </a:p>
          <a:p>
            <a:pPr algn="ctr"/>
            <a:r>
              <a:rPr lang="en-US" altLang="zh-CN" sz="1100" b="1"/>
              <a:t>/qa</a:t>
            </a:r>
          </a:p>
          <a:p>
            <a:pPr algn="ctr"/>
            <a:r>
              <a:rPr lang="zh-CN" altLang="en-US" sz="1100" b="1"/>
              <a:t>审查</a:t>
            </a:r>
          </a:p>
        </p:txBody>
      </p: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F354A6EF-028A-57DE-5586-2670DA4FC354}"/>
              </a:ext>
            </a:extLst>
          </p:cNvPr>
          <p:cNvCxnSpPr>
            <a:cxnSpLocks/>
            <a:stCxn id="12" idx="0"/>
            <a:endCxn id="13" idx="1"/>
          </p:cNvCxnSpPr>
          <p:nvPr/>
        </p:nvCxnSpPr>
        <p:spPr>
          <a:xfrm rot="5400000" flipH="1" flipV="1">
            <a:off x="2652085" y="1533557"/>
            <a:ext cx="1121569" cy="954818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66386715-5BCF-9212-902C-5AF7C375F8DF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>
            <a:off x="5008784" y="1450181"/>
            <a:ext cx="954818" cy="1088096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D97BE930-C1F3-EBE8-04EA-216A7F309421}"/>
              </a:ext>
            </a:extLst>
          </p:cNvPr>
          <p:cNvCxnSpPr>
            <a:cxnSpLocks/>
            <a:stCxn id="14" idx="2"/>
            <a:endCxn id="12" idx="2"/>
          </p:cNvCxnSpPr>
          <p:nvPr/>
        </p:nvCxnSpPr>
        <p:spPr>
          <a:xfrm rot="5400000">
            <a:off x="4332795" y="1611610"/>
            <a:ext cx="33473" cy="3228142"/>
          </a:xfrm>
          <a:prstGeom prst="curvedConnector3">
            <a:avLst>
              <a:gd name="adj1" fmla="val 78293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1">
            <a:extLst>
              <a:ext uri="{FF2B5EF4-FFF2-40B4-BE49-F238E27FC236}">
                <a16:creationId xmlns:a16="http://schemas.microsoft.com/office/drawing/2014/main" id="{92DB829D-493A-3E33-99CC-CA07A267EBF5}"/>
              </a:ext>
            </a:extLst>
          </p:cNvPr>
          <p:cNvSpPr/>
          <p:nvPr/>
        </p:nvSpPr>
        <p:spPr>
          <a:xfrm>
            <a:off x="140850" y="1036409"/>
            <a:ext cx="1275135" cy="1334202"/>
          </a:xfrm>
          <a:prstGeom prst="roundRect">
            <a:avLst>
              <a:gd name="adj" fmla="val 666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1200" b="1"/>
              <a:t>标准化提示词</a:t>
            </a:r>
            <a:br>
              <a:rPr lang="en-US" altLang="zh-CN" sz="1200" b="1"/>
            </a:br>
            <a:endParaRPr lang="en-US" altLang="zh-CN" sz="1200" b="1"/>
          </a:p>
          <a:p>
            <a:r>
              <a:rPr lang="en-US" altLang="zh-CN" sz="1200"/>
              <a:t>Role: </a:t>
            </a:r>
            <a:r>
              <a:rPr lang="en-US" altLang="zh-CN" sz="1200" b="1"/>
              <a:t>······</a:t>
            </a:r>
          </a:p>
          <a:p>
            <a:r>
              <a:rPr lang="en-US" altLang="zh-CN" sz="1200"/>
              <a:t>Backgroud: </a:t>
            </a:r>
            <a:r>
              <a:rPr lang="en-US" altLang="zh-CN" sz="1200" b="1"/>
              <a:t>······</a:t>
            </a:r>
          </a:p>
          <a:p>
            <a:r>
              <a:rPr lang="en-US" altLang="zh-CN" sz="1200"/>
              <a:t>Task: </a:t>
            </a:r>
            <a:r>
              <a:rPr lang="en-US" altLang="zh-CN" sz="1200" b="1"/>
              <a:t>······</a:t>
            </a:r>
          </a:p>
          <a:p>
            <a:r>
              <a:rPr lang="en-US" altLang="zh-CN" sz="1200"/>
              <a:t>Attention:</a:t>
            </a:r>
            <a:r>
              <a:rPr lang="zh-CN" altLang="en-US" sz="1200"/>
              <a:t> </a:t>
            </a:r>
            <a:r>
              <a:rPr lang="en-US" altLang="zh-CN" sz="1200" b="1"/>
              <a:t>······</a:t>
            </a:r>
          </a:p>
        </p:txBody>
      </p: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E2557405-BE5D-5844-8575-2BFFCBF66EBA}"/>
              </a:ext>
            </a:extLst>
          </p:cNvPr>
          <p:cNvCxnSpPr>
            <a:cxnSpLocks/>
            <a:stCxn id="25" idx="2"/>
            <a:endCxn id="12" idx="1"/>
          </p:cNvCxnSpPr>
          <p:nvPr/>
        </p:nvCxnSpPr>
        <p:spPr>
          <a:xfrm rot="16200000" flipH="1">
            <a:off x="1159076" y="1989952"/>
            <a:ext cx="536473" cy="1297789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hape 1">
            <a:extLst>
              <a:ext uri="{FF2B5EF4-FFF2-40B4-BE49-F238E27FC236}">
                <a16:creationId xmlns:a16="http://schemas.microsoft.com/office/drawing/2014/main" id="{901D8D29-4656-AE86-D03D-12BD4B298E81}"/>
              </a:ext>
            </a:extLst>
          </p:cNvPr>
          <p:cNvSpPr/>
          <p:nvPr/>
        </p:nvSpPr>
        <p:spPr>
          <a:xfrm>
            <a:off x="7602977" y="1538059"/>
            <a:ext cx="1275135" cy="432822"/>
          </a:xfrm>
          <a:prstGeom prst="roundRect">
            <a:avLst>
              <a:gd name="adj" fmla="val 2799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r>
              <a:rPr lang="zh-CN" altLang="en-US" sz="1200" b="1"/>
              <a:t>可用代码</a:t>
            </a:r>
            <a:br>
              <a:rPr lang="en-US" altLang="zh-CN" sz="1200" b="1"/>
            </a:br>
            <a:endParaRPr lang="en-US" altLang="zh-CN" sz="1200" b="1"/>
          </a:p>
        </p:txBody>
      </p:sp>
      <p:cxnSp>
        <p:nvCxnSpPr>
          <p:cNvPr id="76" name="连接符: 曲线 75">
            <a:extLst>
              <a:ext uri="{FF2B5EF4-FFF2-40B4-BE49-F238E27FC236}">
                <a16:creationId xmlns:a16="http://schemas.microsoft.com/office/drawing/2014/main" id="{7F181894-99EB-8515-BE39-65D3F423A629}"/>
              </a:ext>
            </a:extLst>
          </p:cNvPr>
          <p:cNvCxnSpPr>
            <a:cxnSpLocks/>
            <a:stCxn id="14" idx="3"/>
            <a:endCxn id="50" idx="2"/>
          </p:cNvCxnSpPr>
          <p:nvPr/>
        </p:nvCxnSpPr>
        <p:spPr>
          <a:xfrm flipV="1">
            <a:off x="6622855" y="1970881"/>
            <a:ext cx="1617690" cy="902730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041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开发模式（三）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前面是 Agent 干的活，那我呢？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写规范的提示词（Specification）文档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skill 让 Agent 以不同身份干不同的事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方案的决定 &amp; 否决 &amp; 交由 Agent 自行裁决，全部由我管辖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9377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身份转变：由「打工人」变成「老板」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8978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58978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时间花销：100分钟手动coding → 10分钟写提示词 + 10分钟等待 + 10分钟纠错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VS 对话框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71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通过标准化接口协议，Agent获得直接读写本地文件的能力（感知能力）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29184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71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👁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47472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在获取了眼之后，Agent得以窥见项目全貌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71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✋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35508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获得手之后，Agent能够真正意义上自己 Coding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71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—— Agent 的「数字器官」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究竟是什么？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0" y="1371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本质：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可以是一个文档，也可以是包含文档&amp;工具的文件夹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只要是能让 Agent 读取以达成某些效果的都属于 skill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类比函数/方法：你可以只知道它的作用而不知道实现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是规范和约束，约束 Agent 应该做什么、怎么做、绝对不能做什么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能做什么？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一句话：什么都能干，只要一件事能用代码实现，就能封装成 skill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LaTeX、画 draw.io 框图、做 PPT……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我这个 PPT 就是用 /example-skills:pptx 做的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Engineering：基于 Skill 的 Agent 开发新范式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0" y="1371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是规范，Harness（鞍具）是由规范组成的框架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Engineering（驾驭工程）：为 Agent 构建无法犯错、必须按正确步骤、可溯源可控制的开发环境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Harness Engineering 中：Agent = Harness +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是 harness，skill 是 harness，开发者也是 harness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核心思路：不是提升 model 本身性能，而是更精确高效地发挥 model 性能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Engineering：当前最新实践方案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 &amp; gstack：经过实际检验的两个 skill 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superpowers：硬件级 TDD，规定 Agent 必须执行单元测试，结果必须严格验收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gstack：定义若干不同身份的 skill，在规划→质疑循环中审视项目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标准实践流程：/plan-ceo-review → /brainstorm → /plan-eng-review → /review → /execute-plan → /qa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9377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skill 包恰好互补，构建了当前最主流的 Harness Engineering 工程开发流程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Engineering 最大优势：Subagent &amp; Agent Teams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Subagent：子 Agent，由主 Agent 主动调用，只给必要且干净的上下文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Subagent 能以极高专注度、低上下文干扰完成任务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Teams：若干 Agent 围绕同一任务链，自动分配角色与任务，并发运行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两种模式可交叉融合，构筑反馈回环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9377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开发者能够定制化属于自己的 Harness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71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Vibe Coding 到 Harness Engineering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Coding：想法驱动开发（2022-2023）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0" y="1371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直接告诉模型自己想干什么，不用文档也不用规范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感觉对了就继续，感觉错了就改正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缺点：没有任何书面规范，错误无法溯源，进度无法预测，风险无法管控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Rot &amp; Context Drift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0" y="1371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隐藏的问题：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一次会话内上下文太长，导致前面的上下文信息被压缩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模型错误记忆和幻觉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第一轮说的话，模型第五轮记错，第十轮早已忘记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如果在第七轮写了有偏差的方法，第十二轮才发现早已为时已晚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Coding：规范驱动开发（2023-2025）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0" y="1371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改进方案：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将严谨定义的提示词本地持久化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Coding 有了足以支持工程开发的规范标准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由想法驱动向设计驱动转变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重要信息本地化，极大避免信息被压缩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Engineering：AI Coding 从随性到可信（2025——）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0" y="109728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0" y="1371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Engineering 的突破：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Spec Coding 基础上嵌套框架，牵制 Agent 必须按规划执行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通过自检反馈循环保障生成的代码一定可用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整个过程均在开发者控制范围内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的失误本质上就是开发者的失误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71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冲击下我们何去何从？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正在瓦解传统组织架构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熟练的 Agent 开发者调用 Agent 开发效率远大于传统开发者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当前互联网正在快速取缔传统开发者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证据：各家大厂都在加紧布局 Agent 基础设施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面试内容更加偏重 Agent，倾向于选择熟练使用 Agent 的求职者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9377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案例：今年年初多家大厂优化前端部门，新型 Agent 初创崛起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普通开发者怎么办？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认清形势，放弃幻想。Agent 可能会崩盘，但起码不是近几年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趁着技术仍在探索的窗口期顺势跟上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转变观念，尝试以管理者视角思考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Agent 时代，企业会更加期望招募能够管理一组 Agent 的高级架构师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71600"/>
            <a:ext cx="64008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打不过 Agent？那就加入。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Vibe Coding 到 Spec Coding，再到 Harness Engineering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正在从随性走向可信，从个人走向组织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68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拥抱 Harness Engineering，成为驾驭 Agent 的「驾驭者」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880</Words>
  <Application>Microsoft Office PowerPoint</Application>
  <PresentationFormat>全屏显示(16:9)</PresentationFormat>
  <Paragraphs>175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工程实践</dc:title>
  <dc:subject>PptxGenJS Presentation</dc:subject>
  <dc:creator>Agent Developer</dc:creator>
  <cp:lastModifiedBy>Katzenyasax Kochiya</cp:lastModifiedBy>
  <cp:revision>29</cp:revision>
  <dcterms:created xsi:type="dcterms:W3CDTF">2026-04-06T07:25:24Z</dcterms:created>
  <dcterms:modified xsi:type="dcterms:W3CDTF">2026-04-06T08:30:12Z</dcterms:modified>
</cp:coreProperties>
</file>